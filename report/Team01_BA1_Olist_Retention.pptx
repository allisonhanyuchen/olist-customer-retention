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688"/>
    <p:restoredTop sz="94670"/>
  </p:normalViewPr>
  <p:slideViewPr>
    <p:cSldViewPr snapToGrid="0" snapToObjects="1">
      <p:cViewPr>
        <p:scale>
          <a:sx n="124" d="100"/>
          <a:sy n="124" d="100"/>
        </p:scale>
        <p:origin x="176" y="6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1005840"/>
            <a:ext cx="64008" cy="28346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005840"/>
            <a:ext cx="73152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From First Purchase
to Loyal Customer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788920"/>
            <a:ext cx="7772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A8C4E0"/>
                </a:solidFill>
                <a:latin typeface="Calibri"/>
              </a:rPr>
              <a:t>A Data-Driven Retention Strategy for Olist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3401568"/>
            <a:ext cx="6583680" cy="411480"/>
          </a:xfrm>
          <a:prstGeom prst="rect">
            <a:avLst/>
          </a:prstGeom>
          <a:solidFill>
            <a:srgbClr val="051840"/>
          </a:solidFill>
          <a:ln w="9525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4924" y="3382161"/>
            <a:ext cx="64008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100" b="0" i="1" dirty="0">
                <a:solidFill>
                  <a:srgbClr val="C9A84C"/>
                </a:solidFill>
                <a:latin typeface="Calibri"/>
              </a:rPr>
              <a:t>Presented by: Hanyu Chen, </a:t>
            </a:r>
            <a:r>
              <a:rPr lang="en-US" sz="1100" b="0" i="1" dirty="0" err="1">
                <a:solidFill>
                  <a:srgbClr val="C9A84C"/>
                </a:solidFill>
                <a:latin typeface="Calibri"/>
              </a:rPr>
              <a:t>Yuejia</a:t>
            </a:r>
            <a:r>
              <a:rPr lang="en-US" sz="1100" b="0" i="1" dirty="0">
                <a:solidFill>
                  <a:srgbClr val="C9A84C"/>
                </a:solidFill>
                <a:latin typeface="Calibri"/>
              </a:rPr>
              <a:t> Yang, Alex Wilson, Diem Vo, Andrea Miranda </a:t>
            </a:r>
            <a:endParaRPr sz="1100" b="0" i="1" dirty="0">
              <a:solidFill>
                <a:srgbClr val="C9A84C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4773168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7A9BBD"/>
                </a:solidFill>
                <a:latin typeface="Calibri"/>
              </a:rPr>
              <a:t>Team 1  |  BAMA 520 Customer Analytics  |  UBC Sauder  |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164592"/>
            <a:ext cx="1828800" cy="2011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66344" y="182879"/>
            <a:ext cx="1737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THE BUSINESS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11480"/>
            <a:ext cx="8321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2060"/>
                </a:solidFill>
                <a:latin typeface="Calibri"/>
              </a:rPr>
              <a:t>97% of Olist Customers Never Come Back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78992"/>
            <a:ext cx="832104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" y="1234440"/>
            <a:ext cx="219456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1480" y="1234440"/>
            <a:ext cx="2194560" cy="640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371600"/>
            <a:ext cx="1920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800" b="1" i="0">
                <a:solidFill>
                  <a:srgbClr val="C0392B"/>
                </a:solidFill>
                <a:latin typeface="Calibri"/>
              </a:rPr>
              <a:t>97%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94560"/>
            <a:ext cx="2011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of customers make
only one purchase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40" y="1234440"/>
            <a:ext cx="219456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834640" y="1234440"/>
            <a:ext cx="2194560" cy="640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71800" y="1371600"/>
            <a:ext cx="1920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800" b="1" i="0">
                <a:solidFill>
                  <a:srgbClr val="002060"/>
                </a:solidFill>
                <a:latin typeface="Calibri"/>
              </a:rPr>
              <a:t>1.9×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194560"/>
            <a:ext cx="2011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higher lifetime revenue
from repeat buyers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57800" y="1234440"/>
            <a:ext cx="219456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257800" y="1234440"/>
            <a:ext cx="2194560" cy="640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94960" y="1371600"/>
            <a:ext cx="1920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800" b="1" i="0">
                <a:solidFill>
                  <a:srgbClr val="C9A84C"/>
                </a:solidFill>
                <a:latin typeface="Calibri"/>
              </a:rPr>
              <a:t>57%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2194560"/>
            <a:ext cx="2011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of revenue from
top 20% of customers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246120"/>
            <a:ext cx="8321040" cy="457200"/>
          </a:xfrm>
          <a:prstGeom prst="rect">
            <a:avLst/>
          </a:prstGeom>
          <a:solidFill>
            <a:srgbClr val="EB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3291840"/>
            <a:ext cx="8046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002060"/>
                </a:solidFill>
                <a:latin typeface="Calibri"/>
              </a:rPr>
              <a:t>Repeat buyers are 1.9× more valuable — yet converting them is Olist's biggest untapped opportunity.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Olist Brazilian E-Commerce Dataset  |  93,358 unique customers  |  2016–2018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164592"/>
            <a:ext cx="1984248" cy="2011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66344" y="182879"/>
            <a:ext cx="189280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THE ANALYTICS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11480"/>
            <a:ext cx="8321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2060"/>
                </a:solidFill>
                <a:latin typeface="Calibri"/>
              </a:rPr>
              <a:t>Turning a Business Problem Into a Testable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78992"/>
            <a:ext cx="832104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" y="1234440"/>
            <a:ext cx="8321040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298448"/>
            <a:ext cx="80467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Can we predict — from a customer's first order alone — who is likely to buy again?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423160"/>
            <a:ext cx="3931920" cy="1600200"/>
          </a:xfrm>
          <a:prstGeom prst="rect">
            <a:avLst/>
          </a:prstGeom>
          <a:solidFill>
            <a:srgbClr val="EB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1480" y="2423160"/>
            <a:ext cx="64008" cy="1600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2487168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02060"/>
                </a:solidFill>
                <a:latin typeface="Calibri"/>
              </a:rPr>
              <a:t>Who to target?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880360"/>
            <a:ext cx="3566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Identify the subset of first-time buyers with repeat probability high enough to justify outreach cost.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17720" y="2423160"/>
            <a:ext cx="3931920" cy="1600200"/>
          </a:xfrm>
          <a:prstGeom prst="rect">
            <a:avLst/>
          </a:prstGeom>
          <a:solidFill>
            <a:srgbClr val="EB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617720" y="2423160"/>
            <a:ext cx="64008" cy="1600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00600" y="2487168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02060"/>
                </a:solidFill>
                <a:latin typeface="Calibri"/>
              </a:rPr>
              <a:t>What is it worth?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2880360"/>
            <a:ext cx="3566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Quantify the profit difference between model-guided targeting and random contact in dollar terms.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Outcome variable: is_repeat — did the customer place a second order? (customer_unique_id)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164592"/>
            <a:ext cx="1440180" cy="2011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66344" y="182879"/>
            <a:ext cx="13487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DATA &amp;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11480"/>
            <a:ext cx="8321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2060"/>
                </a:solidFill>
                <a:latin typeface="Calibri"/>
              </a:rPr>
              <a:t>What We Built and Why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78992"/>
            <a:ext cx="832104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" y="1234440"/>
            <a:ext cx="26060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1480" y="1234440"/>
            <a:ext cx="2606040" cy="640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353312"/>
            <a:ext cx="24231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 i="0">
                <a:solidFill>
                  <a:srgbClr val="002060"/>
                </a:solidFill>
                <a:latin typeface="Calibri"/>
              </a:rPr>
              <a:t>93,358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011680"/>
            <a:ext cx="24231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Unique customers
(delivered orders, 2016–2018)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1234440"/>
            <a:ext cx="26060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46120" y="1234440"/>
            <a:ext cx="2606040" cy="640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37560" y="1353312"/>
            <a:ext cx="24231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 i="0">
                <a:solidFill>
                  <a:srgbClr val="002060"/>
                </a:solidFill>
                <a:latin typeface="Calibri"/>
              </a:rPr>
              <a:t>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011680"/>
            <a:ext cx="24231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Engineered features
across 7 experience dimensions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60" y="1234440"/>
            <a:ext cx="26060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80760" y="1234440"/>
            <a:ext cx="2606040" cy="640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72200" y="1353312"/>
            <a:ext cx="24231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 i="0">
                <a:solidFill>
                  <a:srgbClr val="C0392B"/>
                </a:solidFill>
                <a:latin typeface="Calibri"/>
              </a:rPr>
              <a:t>3.0%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011680"/>
            <a:ext cx="24231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True repeat-purchase rate
(extreme class imbalance)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2788920"/>
            <a:ext cx="39319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11480" y="2788920"/>
            <a:ext cx="64008" cy="7498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6072" y="2834639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002060"/>
                </a:solidFill>
                <a:latin typeface="Calibri"/>
              </a:rPr>
              <a:t>① Balance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" y="3136391"/>
            <a:ext cx="3611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50/50 undersampling — match 2,801 repeat buyers with 2,801 one-time buyers so the model learns rare patterns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17720" y="2788920"/>
            <a:ext cx="39319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617720" y="2788920"/>
            <a:ext cx="64008" cy="7498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82312" y="2834639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002060"/>
                </a:solidFill>
                <a:latin typeface="Calibri"/>
              </a:rPr>
              <a:t>② Model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82312" y="3136391"/>
            <a:ext cx="3611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Logistic regression (22 features) — identifies which first-order signals predict repeat purchase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3657600"/>
            <a:ext cx="39319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11480" y="3657600"/>
            <a:ext cx="64008" cy="7498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76072" y="37033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002060"/>
                </a:solidFill>
                <a:latin typeface="Calibri"/>
              </a:rPr>
              <a:t>③ Correct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" y="4005072"/>
            <a:ext cx="3611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Probability recalibrated from 50% sample rate → 3% true base rate via log-odds shift (−3.48)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17720" y="3657600"/>
            <a:ext cx="39319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617720" y="3657600"/>
            <a:ext cx="64008" cy="7498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782312" y="37033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002060"/>
                </a:solidFill>
                <a:latin typeface="Calibri"/>
              </a:rPr>
              <a:t>④ Target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82312" y="4005072"/>
            <a:ext cx="3611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Flag customers with P(repeat) &gt; 7.5% break-even threshold for outreach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No code on this slide — full reproducible R script submitted separately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164592"/>
            <a:ext cx="1284732" cy="2011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66344" y="182879"/>
            <a:ext cx="119329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KEY FINDING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11480"/>
            <a:ext cx="8321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2060"/>
                </a:solidFill>
                <a:latin typeface="Calibri"/>
              </a:rPr>
              <a:t>What a Customer Buys Predicts Whether They Return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78992"/>
            <a:ext cx="832104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05_odds_rat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5029200" cy="34701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40680" y="1188720"/>
            <a:ext cx="3520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02060"/>
                </a:solidFill>
                <a:latin typeface="Calibri"/>
              </a:rPr>
              <a:t>Strongest signal: Product category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E293B"/>
                </a:solidFill>
                <a:latin typeface="Calibri"/>
              </a:rPr>
              <a:t>Buying in a high-repeat category
(health &amp; beauty, food, perfumery)
almost doubles repeat odds   OR = 1.93</a:t>
            </a:r>
          </a:p>
          <a:p>
            <a:pPr algn="l">
              <a:spcAft>
                <a:spcPts val="200"/>
              </a:spcAft>
            </a:pPr>
            <a:endParaRPr sz="1050" b="0">
              <a:solidFill>
                <a:srgbClr val="1E293B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002060"/>
                </a:solidFill>
                <a:latin typeface="Calibri"/>
              </a:rPr>
              <a:t>Basket size matters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E293B"/>
                </a:solidFill>
                <a:latin typeface="Calibri"/>
              </a:rPr>
              <a:t>More items in the order signals
deeper platform engagement   OR = 1.45</a:t>
            </a:r>
          </a:p>
          <a:p>
            <a:pPr algn="l">
              <a:spcAft>
                <a:spcPts val="200"/>
              </a:spcAft>
            </a:pPr>
            <a:endParaRPr sz="1050" b="0">
              <a:solidFill>
                <a:srgbClr val="1E293B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C0392B"/>
                </a:solidFill>
                <a:latin typeface="Calibri"/>
              </a:rPr>
              <a:t>Low-repeat categories are a strong
negative signal (furniture, electronics)   OR = 0.32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4526280"/>
            <a:ext cx="8595360" cy="384048"/>
          </a:xfrm>
          <a:prstGeom prst="rect">
            <a:avLst/>
          </a:prstGeom>
          <a:solidFill>
            <a:srgbClr val="EB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4562856"/>
            <a:ext cx="8321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002060"/>
                </a:solidFill>
                <a:latin typeface="Calibri"/>
              </a:rPr>
              <a:t>Insight: Category is more predictive than price, delivery speed, or review score. This unlocks a differentiated targeting strategy.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Logistic regression  |  Balanced sample n=5,574  |  AUC = 0.6117  |  8 significant predictors (p &lt; 0.05)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164592"/>
            <a:ext cx="1284732" cy="2011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66344" y="182879"/>
            <a:ext cx="119329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KEY FINDING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11480"/>
            <a:ext cx="8321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2060"/>
                </a:solidFill>
                <a:latin typeface="Calibri"/>
              </a:rPr>
              <a:t>Not All Products Are Equal — Category Defines the Opportunity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78992"/>
            <a:ext cx="832104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02_repeat_by_categ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5029200" cy="32689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0" y="1188720"/>
            <a:ext cx="3383280" cy="1417320"/>
          </a:xfrm>
          <a:prstGeom prst="rect">
            <a:avLst/>
          </a:prstGeom>
          <a:solidFill>
            <a:srgbClr val="D1FAE5"/>
          </a:solidFill>
          <a:ln w="9525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0" y="1188720"/>
            <a:ext cx="64008" cy="141732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50992" y="1252728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A7A4A"/>
                </a:solidFill>
                <a:latin typeface="Calibri"/>
              </a:rPr>
              <a:t>High-Repeat Categories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50992" y="1572768"/>
            <a:ext cx="3063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Health &amp; beauty · Food &amp; drink
Perfumery · Baby · Diapers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50992" y="2029968"/>
            <a:ext cx="3063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1A7A4A"/>
                </a:solidFill>
                <a:latin typeface="Calibri"/>
              </a:rPr>
              <a:t>Consumable — customers run out
and return naturally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0" y="2788920"/>
            <a:ext cx="3383280" cy="1417320"/>
          </a:xfrm>
          <a:prstGeom prst="rect">
            <a:avLst/>
          </a:prstGeom>
          <a:solidFill>
            <a:srgbClr val="FEE2E2"/>
          </a:solidFill>
          <a:ln w="952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0" y="2788920"/>
            <a:ext cx="64008" cy="1417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50992" y="2852928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Calibri"/>
              </a:rPr>
              <a:t>Low-Repeat Categories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50992" y="3172968"/>
            <a:ext cx="3063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Furniture · Electronics
Construction tools · Auto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50992" y="3630168"/>
            <a:ext cx="3063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C0392B"/>
                </a:solidFill>
                <a:latin typeface="Calibri"/>
              </a:rPr>
              <a:t>Durable — customers buy once
and don't need more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Category repeat rates computed from first-order customers only (≥ 50 obs per category)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164592"/>
            <a:ext cx="1673352" cy="2011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66344" y="182879"/>
            <a:ext cx="15819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THE RECOMMENDATION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11480"/>
            <a:ext cx="8321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2060"/>
                </a:solidFill>
                <a:latin typeface="Calibri"/>
              </a:rPr>
              <a:t>Target 960 Customers — With Two Differentiated Messages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78992"/>
            <a:ext cx="832104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" y="1188720"/>
            <a:ext cx="8321040" cy="43891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80924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Send a re-engagement email within 7 days of delivery to all first-time buyers with model-predicted P(repeat) &gt; 7.5%   →   960 customers (1.0% of base)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810512"/>
            <a:ext cx="4069080" cy="2240280"/>
          </a:xfrm>
          <a:prstGeom prst="rect">
            <a:avLst/>
          </a:prstGeom>
          <a:solidFill>
            <a:srgbClr val="D1FAE5"/>
          </a:solidFill>
          <a:ln w="9525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1480" y="1810512"/>
            <a:ext cx="4069080" cy="347472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1819656"/>
            <a:ext cx="3794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Tier 1 — Replenishment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94560"/>
            <a:ext cx="3794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1A7A4A"/>
                </a:solidFill>
                <a:latin typeface="Calibri"/>
              </a:rPr>
              <a:t>Consumable category buyers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450592"/>
            <a:ext cx="374903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E293B"/>
                </a:solidFill>
                <a:latin typeface="Calibri"/>
              </a:rPr>
              <a:t>Health &amp; beauty, food, perfumery, baby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E293B"/>
                </a:solidFill>
                <a:latin typeface="Calibri"/>
              </a:rPr>
              <a:t>Message: "Ready to restock? Your favourites are waiting."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E293B"/>
                </a:solidFill>
                <a:latin typeface="Calibri"/>
              </a:rPr>
              <a:t>Offer: 10% loyalty coupon on next purchase of same category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E293B"/>
                </a:solidFill>
                <a:latin typeface="Calibri"/>
              </a:rPr>
              <a:t>Expected response: higher — repurchase is purchase-cycle driven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1810512"/>
            <a:ext cx="4069080" cy="2240280"/>
          </a:xfrm>
          <a:prstGeom prst="rect">
            <a:avLst/>
          </a:prstGeom>
          <a:solidFill>
            <a:srgbClr val="EBF3FA"/>
          </a:solidFill>
          <a:ln w="952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663440" y="1810512"/>
            <a:ext cx="4069080" cy="3474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00600" y="1819656"/>
            <a:ext cx="3794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Tier 2 — Discovery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2194560"/>
            <a:ext cx="3794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002060"/>
                </a:solidFill>
                <a:latin typeface="Calibri"/>
              </a:rPr>
              <a:t>High-odds, non-consumable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2450592"/>
            <a:ext cx="3886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E293B"/>
                </a:solidFill>
                <a:latin typeface="Calibri"/>
              </a:rPr>
              <a:t>Model-flagged buyers outside consumable categories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E293B"/>
                </a:solidFill>
                <a:latin typeface="Calibri"/>
              </a:rPr>
              <a:t>Message: "Discover what else Olist has for you."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E293B"/>
                </a:solidFill>
                <a:latin typeface="Calibri"/>
              </a:rPr>
              <a:t>Offer: Curated cross-category recommendation + free shipping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E293B"/>
                </a:solidFill>
                <a:latin typeface="Calibri"/>
              </a:rPr>
              <a:t>Expected response: model-driven — P(repeat) above break-even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4160520"/>
            <a:ext cx="8321040" cy="347472"/>
          </a:xfrm>
          <a:prstGeom prst="rect">
            <a:avLst/>
          </a:prstGeom>
          <a:solidFill>
            <a:srgbClr val="EB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4197096"/>
            <a:ext cx="8092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1">
                <a:solidFill>
                  <a:srgbClr val="002060"/>
                </a:solidFill>
                <a:latin typeface="Calibri"/>
              </a:rPr>
              <a:t>Why two messages? The strongest predictor (OR = 1.93) is category type — not demographics. Matching the message to purchase logic lifts response rate and avoids wasted creative spend.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Contact channel: email  |  Trigger: within 7 days of first delivery confirmation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164592"/>
            <a:ext cx="3072384" cy="2011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66344" y="182879"/>
            <a:ext cx="298094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ECONOMIC IMPACT  ·  DOLLAR SIGN 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11480"/>
            <a:ext cx="8321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2060"/>
                </a:solidFill>
                <a:latin typeface="Calibri"/>
              </a:rPr>
              <a:t>Model Targeting Delivers BRL 1,818 More Than Random Contact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78992"/>
            <a:ext cx="832104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" y="1170432"/>
            <a:ext cx="8321040" cy="3474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216152"/>
            <a:ext cx="8092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C9A84C"/>
                </a:solidFill>
                <a:latin typeface="Calibri"/>
              </a:rPr>
              <a:t>Assumptions: BRL 2.00 / email  |  BRL 26.60 incremental margin / conversion  |  Break-even threshold: 7.5%  |  960 customers targeted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664208"/>
            <a:ext cx="3749039" cy="2606040"/>
          </a:xfrm>
          <a:prstGeom prst="rect">
            <a:avLst/>
          </a:prstGeom>
          <a:solidFill>
            <a:srgbClr val="FEE2E2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1480" y="1664208"/>
            <a:ext cx="3749039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1682496"/>
            <a:ext cx="35661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Random Outreach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057400"/>
            <a:ext cx="356615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960 random contacts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304288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Conversions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304288"/>
            <a:ext cx="36118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1E293B"/>
                </a:solidFill>
                <a:latin typeface="Calibri"/>
              </a:rPr>
              <a:t>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688336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Gross Margin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688336"/>
            <a:ext cx="36118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1E293B"/>
                </a:solidFill>
                <a:latin typeface="Calibri"/>
              </a:rPr>
              <a:t>BRL 766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072384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Contact Cost (960 × BRL 2)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072384"/>
            <a:ext cx="36118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1E293B"/>
                </a:solidFill>
                <a:latin typeface="Calibri"/>
              </a:rPr>
              <a:t>BRL 1,920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730752"/>
            <a:ext cx="3566159" cy="1828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3767328"/>
            <a:ext cx="1645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Calibri"/>
              </a:rPr>
              <a:t>Net Profit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767328"/>
            <a:ext cx="3611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200" b="1" i="0">
                <a:solidFill>
                  <a:srgbClr val="C0392B"/>
                </a:solidFill>
                <a:latin typeface="Calibri"/>
              </a:rPr>
              <a:t>BRL −1,154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57800" y="1664208"/>
            <a:ext cx="3749039" cy="2606040"/>
          </a:xfrm>
          <a:prstGeom prst="rect">
            <a:avLst/>
          </a:prstGeom>
          <a:solidFill>
            <a:srgbClr val="D1FAE5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257800" y="1664208"/>
            <a:ext cx="3749039" cy="347472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94960" y="1682496"/>
            <a:ext cx="35661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Model-Targeted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0" y="2057400"/>
            <a:ext cx="356615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960 flagged contacts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2304288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Conversions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4960" y="2304288"/>
            <a:ext cx="36118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1E293B"/>
                </a:solidFill>
                <a:latin typeface="Calibri"/>
              </a:rPr>
              <a:t>97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4960" y="2688336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Gross Margin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4960" y="2688336"/>
            <a:ext cx="36118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1E293B"/>
                </a:solidFill>
                <a:latin typeface="Calibri"/>
              </a:rPr>
              <a:t>BRL 2,584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4960" y="3072384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Contact Cost (960 × BRL 2)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4960" y="3072384"/>
            <a:ext cx="36118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1E293B"/>
                </a:solidFill>
                <a:latin typeface="Calibri"/>
              </a:rPr>
              <a:t>BRL 1,920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94960" y="3730752"/>
            <a:ext cx="3566159" cy="18288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394960" y="3767328"/>
            <a:ext cx="1645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A7A4A"/>
                </a:solidFill>
                <a:latin typeface="Calibri"/>
              </a:rPr>
              <a:t>Net Profit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94960" y="3767328"/>
            <a:ext cx="3611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200" b="1" i="0">
                <a:solidFill>
                  <a:srgbClr val="1A7A4A"/>
                </a:solidFill>
                <a:latin typeface="Calibri"/>
              </a:rPr>
              <a:t>BRL +664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51960" y="2331720"/>
            <a:ext cx="914400" cy="10515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251960" y="2359152"/>
            <a:ext cx="914400" cy="9966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C9A84C"/>
                </a:solidFill>
                <a:latin typeface="Calibri"/>
              </a:rPr>
              <a:t>BRL
1,818
swing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Upper bound: some targeted customers are Sure Things who would repurchase without intervention — see Slide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164592"/>
            <a:ext cx="1595628" cy="2011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66344" y="182879"/>
            <a:ext cx="15041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VALIDATION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11480"/>
            <a:ext cx="8321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2060"/>
                </a:solidFill>
                <a:latin typeface="Calibri"/>
              </a:rPr>
              <a:t>A 90-Day Experiment to Confirm Causality Before Scaling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78992"/>
            <a:ext cx="832104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" y="1170432"/>
            <a:ext cx="8321040" cy="36576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207008"/>
            <a:ext cx="8092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926000"/>
                </a:solidFill>
                <a:latin typeface="Calibri"/>
              </a:rPr>
              <a:t>⚠  BRL 664 is an upper bound — some targeted customers are Sure Things who would repurchase anyway. We need a randomised experiment to isolate the true effect of outreach.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719072"/>
            <a:ext cx="2606040" cy="2377440"/>
          </a:xfrm>
          <a:prstGeom prst="rect">
            <a:avLst/>
          </a:prstGeom>
          <a:solidFill>
            <a:srgbClr val="EBF3FA"/>
          </a:solidFill>
          <a:ln w="952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1480" y="1719072"/>
            <a:ext cx="2606040" cy="3474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1208" y="1737360"/>
            <a:ext cx="237744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① RANDOMISE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" y="2103120"/>
            <a:ext cx="2377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002060"/>
                </a:solidFill>
                <a:latin typeface="Calibri"/>
              </a:rPr>
              <a:t>768 treated
192 control (20%)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" y="2414016"/>
            <a:ext cx="2377440" cy="1572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Randomly withhold the email from 20% of the 960 targeted customers.
Control group receives no outreach.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1719072"/>
            <a:ext cx="2606040" cy="2377440"/>
          </a:xfrm>
          <a:prstGeom prst="rect">
            <a:avLst/>
          </a:prstGeom>
          <a:solidFill>
            <a:srgbClr val="E0F0FF"/>
          </a:solidFill>
          <a:ln w="9525">
            <a:solidFill>
              <a:srgbClr val="0F5E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46120" y="1719072"/>
            <a:ext cx="2606040" cy="347472"/>
          </a:xfrm>
          <a:prstGeom prst="rect">
            <a:avLst/>
          </a:prstGeom>
          <a:solidFill>
            <a:srgbClr val="0F5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55848" y="1737360"/>
            <a:ext cx="237744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② MEASURE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55848" y="2103120"/>
            <a:ext cx="2377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0F5E99"/>
                </a:solidFill>
                <a:latin typeface="Calibri"/>
              </a:rPr>
              <a:t>90-day window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55848" y="2414016"/>
            <a:ext cx="2377440" cy="1572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Track repeat purchase rate in treated vs. control.
Primary metric: incremental repeat rate (lift).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0760" y="1719072"/>
            <a:ext cx="2606040" cy="2377440"/>
          </a:xfrm>
          <a:prstGeom prst="rect">
            <a:avLst/>
          </a:prstGeom>
          <a:solidFill>
            <a:srgbClr val="D1FAE5"/>
          </a:solidFill>
          <a:ln w="9525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080760" y="1719072"/>
            <a:ext cx="2606040" cy="347472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90488" y="1737360"/>
            <a:ext cx="237744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③ DECIDE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90488" y="2103120"/>
            <a:ext cx="2377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1A7A4A"/>
                </a:solidFill>
                <a:latin typeface="Calibri"/>
              </a:rPr>
              <a:t>Scale / pause rule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0488" y="2414016"/>
            <a:ext cx="2377440" cy="1572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If lift × BRL 26.6 &gt; BRL 2.0 (i.e. lift &gt; 7.5 pp), roll out to full customer base.
If not, pause and diagnose.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2606040"/>
            <a:ext cx="411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C9A84C"/>
                </a:solidFill>
                <a:latin typeface="Calibri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0" y="2606040"/>
            <a:ext cx="411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C9A84C"/>
                </a:solidFill>
                <a:latin typeface="Calibri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4206240"/>
            <a:ext cx="8321040" cy="38404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4242816"/>
            <a:ext cx="8092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Why this design?  The experiment converts our predictive finding into a causal claim. Only then can we confidently recommend full deployment across 93K customers.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Design: 2-arm RCT  |  Sample: 960 targeted customers  |  Duration: 90 days  |  Decision threshold: 7.5 pp lift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Risks &amp; Limitations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749808"/>
            <a:ext cx="832104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960120"/>
            <a:ext cx="64008" cy="8046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960120"/>
            <a:ext cx="8138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Calibri"/>
              </a:rPr>
              <a:t>BRL 664 is an upper bound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289304"/>
            <a:ext cx="8138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C8D8EC"/>
                </a:solidFill>
                <a:latin typeface="Calibri"/>
              </a:rPr>
              <a:t>Some of the 960 targeted customers are Sure Things — they would repurchase without our email. The true incremental profit is lower. The RCT on Slide 9 measures the true causal lift.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965960"/>
            <a:ext cx="64008" cy="8046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965960"/>
            <a:ext cx="8138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Calibri"/>
              </a:rPr>
              <a:t>Model predicts, not guarantees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295144"/>
            <a:ext cx="8138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C8D8EC"/>
                </a:solidFill>
                <a:latin typeface="Calibri"/>
              </a:rPr>
              <a:t>AUC = 0.61 means the model performs meaningfully better than random, but 39% of variation remains unexplained. Predictions are probabilities, not certainties.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971800"/>
            <a:ext cx="64008" cy="8046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2971800"/>
            <a:ext cx="8138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Calibri"/>
              </a:rPr>
              <a:t>Observational data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300984"/>
            <a:ext cx="8138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C8D8EC"/>
                </a:solidFill>
                <a:latin typeface="Calibri"/>
              </a:rPr>
              <a:t>The training data is not from a randomised trial. Predictors may reflect customer intent rather than platform-controllable factors. We cannot claim causality without the experiment.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977640"/>
            <a:ext cx="64008" cy="8046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3977640"/>
            <a:ext cx="8138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Calibri"/>
              </a:rPr>
              <a:t>3% base rate limits scale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306824"/>
            <a:ext cx="8138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C8D8EC"/>
                </a:solidFill>
                <a:latin typeface="Calibri"/>
              </a:rPr>
              <a:t>Even at perfect precision, only ~2,800 of 93,000 customers will ever repeat. The programme targets the highest-probability subset — most repeat buyers remain unreachable.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681728"/>
            <a:ext cx="8321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1">
                <a:solidFill>
                  <a:srgbClr val="7A9BBD"/>
                </a:solidFill>
                <a:latin typeface="Calibri"/>
              </a:rPr>
              <a:t>Acknowledging limitations is not a weakness — it demonstrates the analytical maturity that separates a credible recommendation from a sales pitch.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1150</Words>
  <Application>Microsoft Macintosh PowerPoint</Application>
  <PresentationFormat>On-screen Show (16:9)</PresentationFormat>
  <Paragraphs>127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Hanyu Chen</cp:lastModifiedBy>
  <cp:revision>3</cp:revision>
  <dcterms:created xsi:type="dcterms:W3CDTF">2013-01-27T09:14:16Z</dcterms:created>
  <dcterms:modified xsi:type="dcterms:W3CDTF">2026-09-02T01:14:35Z</dcterms:modified>
  <cp:category/>
</cp:coreProperties>
</file>